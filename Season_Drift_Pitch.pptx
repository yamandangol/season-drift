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built Season Drift: a racing game where one lap takes you through all four seasons, and every season changes the rules of driving, not just the scenery. It runs in any browser, solo against bots, two players on one screen, or on two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season tests a different driving skill. Spring is about speed: thread the petal chain for a speed boost. Summer is about heat: the sun overheats your engine, so you hop between drifting cloud shadows and brake under them to cool down. Autumn is about visibility: rip through a leaf pile and the driver behind you gets a face full of leaves. Winter is about weight: snow piles on your car and slows you, so you have to stop on a heater pad to melt it, or gamble on the frozen-lake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it ours: the seasons are connected. If you build a long petal chain in spring, you carry that speed into summer, but your engine overheats faster, so it is a real trade-off. The game teaches itself with picture signs before each season, and it is built to be accessible: remappable keys for both players, colour-blind helpers, reduced flashes, and adjustable difficulty. Every model and every sound is generated in code; there are no asset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against the brief: the seasons are the gameplay, there is a clear one-lap goal you understand in seconds, the art and audio share one style and were all made by us during the event, and the build runs in any browser. Please grab a controller or a keyboard and race us.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Yamandangol/season-drift" TargetMode="External"/><Relationship Id="rId1" Type="http://schemas.openxmlformats.org/officeDocument/2006/relationships/image" Target="../media/image-4-1.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4206240" y="0"/>
            <a:ext cx="4937760" cy="5143500"/>
          </a:xfrm>
          <a:prstGeom prst="rect">
            <a:avLst/>
          </a:prstGeom>
        </p:spPr>
      </p:pic>
      <p:sp>
        <p:nvSpPr>
          <p:cNvPr id="3" name="Shape 0"/>
          <p:cNvSpPr/>
          <p:nvPr/>
        </p:nvSpPr>
        <p:spPr>
          <a:xfrm>
            <a:off x="4206240" y="0"/>
            <a:ext cx="4937760" cy="5143500"/>
          </a:xfrm>
          <a:prstGeom prst="rect">
            <a:avLst/>
          </a:prstGeom>
          <a:solidFill>
            <a:srgbClr val="141A2B">
              <a:alpha val="45000"/>
            </a:srgbClr>
          </a:solidFill>
          <a:ln/>
        </p:spPr>
      </p:sp>
      <p:sp>
        <p:nvSpPr>
          <p:cNvPr id="4" name="Text 1"/>
          <p:cNvSpPr txBox="1"/>
          <p:nvPr/>
        </p:nvSpPr>
        <p:spPr>
          <a:xfrm>
            <a:off x="548640" y="640080"/>
            <a:ext cx="3840480" cy="274320"/>
          </a:xfrm>
          <a:prstGeom prst="rect">
            <a:avLst/>
          </a:prstGeom>
          <a:noFill/>
          <a:ln/>
        </p:spPr>
        <p:txBody>
          <a:bodyPr wrap="square" lIns="0" tIns="0" rIns="0" bIns="0" rtlCol="0" anchor="ctr"/>
          <a:lstStyle/>
          <a:p>
            <a:pPr indent="0" marL="0">
              <a:buNone/>
            </a:pPr>
            <a:r>
              <a:rPr lang="en-US" sz="1100" b="1" spc="200" kern="0" dirty="0">
                <a:solidFill>
                  <a:srgbClr val="FFD34D"/>
                </a:solidFill>
              </a:rPr>
              <a:t>THUNDERHACKS 2026 · ALGOMA GAME JAM</a:t>
            </a:r>
            <a:endParaRPr lang="en-US" sz="1100" dirty="0"/>
          </a:p>
        </p:txBody>
      </p:sp>
      <p:sp>
        <p:nvSpPr>
          <p:cNvPr id="5" name="Text 2"/>
          <p:cNvSpPr txBox="1"/>
          <p:nvPr/>
        </p:nvSpPr>
        <p:spPr>
          <a:xfrm>
            <a:off x="548640" y="1005840"/>
            <a:ext cx="3566160"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Season Drift</a:t>
            </a:r>
            <a:endParaRPr lang="en-US" sz="4400" dirty="0"/>
          </a:p>
        </p:txBody>
      </p:sp>
      <p:sp>
        <p:nvSpPr>
          <p:cNvPr id="6" name="Text 3"/>
          <p:cNvSpPr txBox="1"/>
          <p:nvPr/>
        </p:nvSpPr>
        <p:spPr>
          <a:xfrm>
            <a:off x="548640" y="2057400"/>
            <a:ext cx="3657600" cy="731520"/>
          </a:xfrm>
          <a:prstGeom prst="rect">
            <a:avLst/>
          </a:prstGeom>
          <a:noFill/>
          <a:ln/>
        </p:spPr>
        <p:txBody>
          <a:bodyPr wrap="square" lIns="0" tIns="0" rIns="0" bIns="0" rtlCol="0" anchor="ctr"/>
          <a:lstStyle/>
          <a:p>
            <a:pPr indent="0" marL="0">
              <a:buNone/>
            </a:pPr>
            <a:r>
              <a:rPr lang="en-US" sz="1800" dirty="0">
                <a:solidFill>
                  <a:srgbClr val="D6DCE8"/>
                </a:solidFill>
              </a:rPr>
              <a:t>One lap. Four seasons. Every season changes how you drive.</a:t>
            </a:r>
            <a:endParaRPr lang="en-US" sz="1800" dirty="0"/>
          </a:p>
        </p:txBody>
      </p:sp>
      <p:sp>
        <p:nvSpPr>
          <p:cNvPr id="7" name="Shape 4"/>
          <p:cNvSpPr/>
          <p:nvPr/>
        </p:nvSpPr>
        <p:spPr>
          <a:xfrm>
            <a:off x="548640" y="3063240"/>
            <a:ext cx="512064" cy="512064"/>
          </a:xfrm>
          <a:prstGeom prst="ellipse">
            <a:avLst/>
          </a:prstGeom>
          <a:solidFill>
            <a:srgbClr val="F27FB0"/>
          </a:solidFill>
          <a:ln/>
        </p:spPr>
      </p:sp>
      <p:sp>
        <p:nvSpPr>
          <p:cNvPr id="8" name="Text 5"/>
          <p:cNvSpPr txBox="1"/>
          <p:nvPr/>
        </p:nvSpPr>
        <p:spPr>
          <a:xfrm>
            <a:off x="548640" y="3063240"/>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9" name="Shape 6"/>
          <p:cNvSpPr/>
          <p:nvPr/>
        </p:nvSpPr>
        <p:spPr>
          <a:xfrm>
            <a:off x="1207008" y="3063240"/>
            <a:ext cx="512064" cy="512064"/>
          </a:xfrm>
          <a:prstGeom prst="ellipse">
            <a:avLst/>
          </a:prstGeom>
          <a:solidFill>
            <a:srgbClr val="FFB627"/>
          </a:solidFill>
          <a:ln/>
        </p:spPr>
      </p:sp>
      <p:sp>
        <p:nvSpPr>
          <p:cNvPr id="10" name="Text 7"/>
          <p:cNvSpPr txBox="1"/>
          <p:nvPr/>
        </p:nvSpPr>
        <p:spPr>
          <a:xfrm>
            <a:off x="1207008" y="3063240"/>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1" name="Shape 8"/>
          <p:cNvSpPr/>
          <p:nvPr/>
        </p:nvSpPr>
        <p:spPr>
          <a:xfrm>
            <a:off x="1865376" y="3063240"/>
            <a:ext cx="512064" cy="512064"/>
          </a:xfrm>
          <a:prstGeom prst="ellipse">
            <a:avLst/>
          </a:prstGeom>
          <a:solidFill>
            <a:srgbClr val="E06A2B"/>
          </a:solidFill>
          <a:ln/>
        </p:spPr>
      </p:sp>
      <p:sp>
        <p:nvSpPr>
          <p:cNvPr id="12" name="Text 9"/>
          <p:cNvSpPr txBox="1"/>
          <p:nvPr/>
        </p:nvSpPr>
        <p:spPr>
          <a:xfrm>
            <a:off x="1865376" y="3063240"/>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3" name="Shape 10"/>
          <p:cNvSpPr/>
          <p:nvPr/>
        </p:nvSpPr>
        <p:spPr>
          <a:xfrm>
            <a:off x="2523744" y="3063240"/>
            <a:ext cx="512064" cy="512064"/>
          </a:xfrm>
          <a:prstGeom prst="ellipse">
            <a:avLst/>
          </a:prstGeom>
          <a:solidFill>
            <a:srgbClr val="6FA8DC"/>
          </a:solidFill>
          <a:ln/>
        </p:spPr>
      </p:sp>
      <p:sp>
        <p:nvSpPr>
          <p:cNvPr id="14" name="Text 11"/>
          <p:cNvSpPr txBox="1"/>
          <p:nvPr/>
        </p:nvSpPr>
        <p:spPr>
          <a:xfrm>
            <a:off x="2523744" y="3063240"/>
            <a:ext cx="512064" cy="51206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5" name="Text 12"/>
          <p:cNvSpPr txBox="1"/>
          <p:nvPr/>
        </p:nvSpPr>
        <p:spPr>
          <a:xfrm>
            <a:off x="548640" y="3977640"/>
            <a:ext cx="3657600" cy="457200"/>
          </a:xfrm>
          <a:prstGeom prst="rect">
            <a:avLst/>
          </a:prstGeom>
          <a:noFill/>
          <a:ln/>
        </p:spPr>
        <p:txBody>
          <a:bodyPr wrap="square" lIns="0" tIns="0" rIns="0" bIns="0" rtlCol="0" anchor="ctr"/>
          <a:lstStyle/>
          <a:p>
            <a:pPr indent="0" marL="0">
              <a:buNone/>
            </a:pPr>
            <a:r>
              <a:rPr lang="en-US" sz="1200" dirty="0">
                <a:solidFill>
                  <a:srgbClr val="9AA4B8"/>
                </a:solidFill>
              </a:rPr>
              <a:t>A browser racing game · solo vs bots, split screen, or two devices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C2233"/>
                </a:solidFill>
                <a:latin typeface="Arial" pitchFamily="34" charset="0"/>
                <a:ea typeface="Arial" pitchFamily="34" charset="-122"/>
                <a:cs typeface="Arial" pitchFamily="34" charset="-120"/>
              </a:rPr>
              <a:t>Each season rewrites one rule of driving</a:t>
            </a:r>
            <a:endParaRPr lang="en-US" sz="2800" dirty="0"/>
          </a:p>
        </p:txBody>
      </p:sp>
      <p:sp>
        <p:nvSpPr>
          <p:cNvPr id="3" name="Shape 1"/>
          <p:cNvSpPr/>
          <p:nvPr/>
        </p:nvSpPr>
        <p:spPr>
          <a:xfrm>
            <a:off x="457200" y="1051560"/>
            <a:ext cx="1920240" cy="3154680"/>
          </a:xfrm>
          <a:prstGeom prst="roundRect">
            <a:avLst>
              <a:gd name="adj" fmla="val 5714"/>
            </a:avLst>
          </a:prstGeom>
          <a:solidFill>
            <a:srgbClr val="FFFFFF"/>
          </a:solidFill>
          <a:ln w="12700">
            <a:solidFill>
              <a:srgbClr val="E1E5EE"/>
            </a:solidFill>
            <a:prstDash val="solid"/>
          </a:ln>
          <a:effectLst>
            <a:outerShdw sx="100000" sy="100000" kx="0" ky="0" algn="bl" rotWithShape="0" blurRad="101600" dist="254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548640" y="1143000"/>
            <a:ext cx="1737360" cy="977265"/>
          </a:xfrm>
          <a:prstGeom prst="rect">
            <a:avLst/>
          </a:prstGeom>
        </p:spPr>
      </p:pic>
      <p:sp>
        <p:nvSpPr>
          <p:cNvPr id="5" name="Text 2"/>
          <p:cNvSpPr txBox="1"/>
          <p:nvPr/>
        </p:nvSpPr>
        <p:spPr>
          <a:xfrm>
            <a:off x="594360" y="2212848"/>
            <a:ext cx="1645920" cy="274320"/>
          </a:xfrm>
          <a:prstGeom prst="rect">
            <a:avLst/>
          </a:prstGeom>
          <a:noFill/>
          <a:ln/>
        </p:spPr>
        <p:txBody>
          <a:bodyPr wrap="square" lIns="0" tIns="0" rIns="0" bIns="0" rtlCol="0" anchor="ctr"/>
          <a:lstStyle/>
          <a:p>
            <a:pPr indent="0" marL="0">
              <a:buNone/>
            </a:pPr>
            <a:r>
              <a:rPr lang="en-US" sz="1100" b="1" spc="200" kern="0" dirty="0">
                <a:solidFill>
                  <a:srgbClr val="F27FB0"/>
                </a:solidFill>
              </a:rPr>
              <a:t>SPEED</a:t>
            </a:r>
            <a:endParaRPr lang="en-US" sz="1100" dirty="0"/>
          </a:p>
        </p:txBody>
      </p:sp>
      <p:sp>
        <p:nvSpPr>
          <p:cNvPr id="6" name="Text 3"/>
          <p:cNvSpPr txBox="1"/>
          <p:nvPr/>
        </p:nvSpPr>
        <p:spPr>
          <a:xfrm>
            <a:off x="594360" y="2468880"/>
            <a:ext cx="1645920" cy="320040"/>
          </a:xfrm>
          <a:prstGeom prst="rect">
            <a:avLst/>
          </a:prstGeom>
          <a:noFill/>
          <a:ln/>
        </p:spPr>
        <p:txBody>
          <a:bodyPr wrap="square" lIns="0" tIns="0" rIns="0" bIns="0" rtlCol="0" anchor="ctr"/>
          <a:lstStyle/>
          <a:p>
            <a:pPr indent="0" marL="0">
              <a:buNone/>
            </a:pPr>
            <a:r>
              <a:rPr lang="en-US" sz="1700" b="1" dirty="0">
                <a:solidFill>
                  <a:srgbClr val="1C2233"/>
                </a:solidFill>
              </a:rPr>
              <a:t>🌸  Spring</a:t>
            </a:r>
            <a:endParaRPr lang="en-US" sz="1700" dirty="0"/>
          </a:p>
        </p:txBody>
      </p:sp>
      <p:sp>
        <p:nvSpPr>
          <p:cNvPr id="7" name="Text 4"/>
          <p:cNvSpPr txBox="1"/>
          <p:nvPr/>
        </p:nvSpPr>
        <p:spPr>
          <a:xfrm>
            <a:off x="594360" y="2788920"/>
            <a:ext cx="1645920" cy="274320"/>
          </a:xfrm>
          <a:prstGeom prst="rect">
            <a:avLst/>
          </a:prstGeom>
          <a:noFill/>
          <a:ln/>
        </p:spPr>
        <p:txBody>
          <a:bodyPr wrap="square" lIns="0" tIns="0" rIns="0" bIns="0" rtlCol="0" anchor="ctr"/>
          <a:lstStyle/>
          <a:p>
            <a:pPr indent="0" marL="0">
              <a:buNone/>
            </a:pPr>
            <a:r>
              <a:rPr lang="en-US" sz="1300" i="1" dirty="0">
                <a:solidFill>
                  <a:srgbClr val="5B6478"/>
                </a:solidFill>
              </a:rPr>
              <a:t>Petal Chain</a:t>
            </a:r>
            <a:endParaRPr lang="en-US" sz="1300" dirty="0"/>
          </a:p>
        </p:txBody>
      </p:sp>
      <p:sp>
        <p:nvSpPr>
          <p:cNvPr id="8" name="Text 5"/>
          <p:cNvSpPr txBox="1"/>
          <p:nvPr/>
        </p:nvSpPr>
        <p:spPr>
          <a:xfrm>
            <a:off x="594360" y="3108960"/>
            <a:ext cx="1645920" cy="1005840"/>
          </a:xfrm>
          <a:prstGeom prst="rect">
            <a:avLst/>
          </a:prstGeom>
          <a:noFill/>
          <a:ln/>
        </p:spPr>
        <p:txBody>
          <a:bodyPr wrap="square" lIns="0" tIns="0" rIns="0" bIns="0" rtlCol="0" anchor="t"/>
          <a:lstStyle/>
          <a:p>
            <a:pPr indent="0" marL="0">
              <a:buNone/>
            </a:pPr>
            <a:r>
              <a:rPr lang="en-US" sz="1200" dirty="0">
                <a:solidFill>
                  <a:srgbClr val="1C2233"/>
                </a:solidFill>
              </a:rPr>
              <a:t>Weave through petal clusters in order. Every link adds top speed; miss one and the chain breaks.</a:t>
            </a:r>
            <a:endParaRPr lang="en-US" sz="1200" dirty="0"/>
          </a:p>
        </p:txBody>
      </p:sp>
      <p:sp>
        <p:nvSpPr>
          <p:cNvPr id="9" name="Shape 6"/>
          <p:cNvSpPr/>
          <p:nvPr/>
        </p:nvSpPr>
        <p:spPr>
          <a:xfrm>
            <a:off x="2560320" y="1051560"/>
            <a:ext cx="1920240" cy="3154680"/>
          </a:xfrm>
          <a:prstGeom prst="roundRect">
            <a:avLst>
              <a:gd name="adj" fmla="val 5714"/>
            </a:avLst>
          </a:prstGeom>
          <a:solidFill>
            <a:srgbClr val="FFFFFF"/>
          </a:solidFill>
          <a:ln w="12700">
            <a:solidFill>
              <a:srgbClr val="E1E5EE"/>
            </a:solidFill>
            <a:prstDash val="solid"/>
          </a:ln>
          <a:effectLst>
            <a:outerShdw sx="100000" sy="100000" kx="0" ky="0" algn="bl" rotWithShape="0" blurRad="101600" dist="25400" dir="54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2651760" y="1143000"/>
            <a:ext cx="1737360" cy="977265"/>
          </a:xfrm>
          <a:prstGeom prst="rect">
            <a:avLst/>
          </a:prstGeom>
        </p:spPr>
      </p:pic>
      <p:sp>
        <p:nvSpPr>
          <p:cNvPr id="11" name="Text 7"/>
          <p:cNvSpPr txBox="1"/>
          <p:nvPr/>
        </p:nvSpPr>
        <p:spPr>
          <a:xfrm>
            <a:off x="2697480" y="2212848"/>
            <a:ext cx="1645920" cy="274320"/>
          </a:xfrm>
          <a:prstGeom prst="rect">
            <a:avLst/>
          </a:prstGeom>
          <a:noFill/>
          <a:ln/>
        </p:spPr>
        <p:txBody>
          <a:bodyPr wrap="square" lIns="0" tIns="0" rIns="0" bIns="0" rtlCol="0" anchor="ctr"/>
          <a:lstStyle/>
          <a:p>
            <a:pPr indent="0" marL="0">
              <a:buNone/>
            </a:pPr>
            <a:r>
              <a:rPr lang="en-US" sz="1100" b="1" spc="200" kern="0" dirty="0">
                <a:solidFill>
                  <a:srgbClr val="FFB627"/>
                </a:solidFill>
              </a:rPr>
              <a:t>HEAT</a:t>
            </a:r>
            <a:endParaRPr lang="en-US" sz="1100" dirty="0"/>
          </a:p>
        </p:txBody>
      </p:sp>
      <p:sp>
        <p:nvSpPr>
          <p:cNvPr id="12" name="Text 8"/>
          <p:cNvSpPr txBox="1"/>
          <p:nvPr/>
        </p:nvSpPr>
        <p:spPr>
          <a:xfrm>
            <a:off x="2697480" y="2468880"/>
            <a:ext cx="1645920" cy="320040"/>
          </a:xfrm>
          <a:prstGeom prst="rect">
            <a:avLst/>
          </a:prstGeom>
          <a:noFill/>
          <a:ln/>
        </p:spPr>
        <p:txBody>
          <a:bodyPr wrap="square" lIns="0" tIns="0" rIns="0" bIns="0" rtlCol="0" anchor="ctr"/>
          <a:lstStyle/>
          <a:p>
            <a:pPr indent="0" marL="0">
              <a:buNone/>
            </a:pPr>
            <a:r>
              <a:rPr lang="en-US" sz="1700" b="1" dirty="0">
                <a:solidFill>
                  <a:srgbClr val="1C2233"/>
                </a:solidFill>
              </a:rPr>
              <a:t>☀️  Summer</a:t>
            </a:r>
            <a:endParaRPr lang="en-US" sz="1700" dirty="0"/>
          </a:p>
        </p:txBody>
      </p:sp>
      <p:sp>
        <p:nvSpPr>
          <p:cNvPr id="13" name="Text 9"/>
          <p:cNvSpPr txBox="1"/>
          <p:nvPr/>
        </p:nvSpPr>
        <p:spPr>
          <a:xfrm>
            <a:off x="2697480" y="2788920"/>
            <a:ext cx="1645920" cy="274320"/>
          </a:xfrm>
          <a:prstGeom prst="rect">
            <a:avLst/>
          </a:prstGeom>
          <a:noFill/>
          <a:ln/>
        </p:spPr>
        <p:txBody>
          <a:bodyPr wrap="square" lIns="0" tIns="0" rIns="0" bIns="0" rtlCol="0" anchor="ctr"/>
          <a:lstStyle/>
          <a:p>
            <a:pPr indent="0" marL="0">
              <a:buNone/>
            </a:pPr>
            <a:r>
              <a:rPr lang="en-US" sz="1300" i="1" dirty="0">
                <a:solidFill>
                  <a:srgbClr val="5B6478"/>
                </a:solidFill>
              </a:rPr>
              <a:t>Cloud Hopping</a:t>
            </a:r>
            <a:endParaRPr lang="en-US" sz="1300" dirty="0"/>
          </a:p>
        </p:txBody>
      </p:sp>
      <p:sp>
        <p:nvSpPr>
          <p:cNvPr id="14" name="Text 10"/>
          <p:cNvSpPr txBox="1"/>
          <p:nvPr/>
        </p:nvSpPr>
        <p:spPr>
          <a:xfrm>
            <a:off x="2697480" y="3108960"/>
            <a:ext cx="1645920" cy="1005840"/>
          </a:xfrm>
          <a:prstGeom prst="rect">
            <a:avLst/>
          </a:prstGeom>
          <a:noFill/>
          <a:ln/>
        </p:spPr>
        <p:txBody>
          <a:bodyPr wrap="square" lIns="0" tIns="0" rIns="0" bIns="0" rtlCol="0" anchor="t"/>
          <a:lstStyle/>
          <a:p>
            <a:pPr indent="0" marL="0">
              <a:buNone/>
            </a:pPr>
            <a:r>
              <a:rPr lang="en-US" sz="1200" dirty="0">
                <a:solidFill>
                  <a:srgbClr val="1C2233"/>
                </a:solidFill>
              </a:rPr>
              <a:t>The sun overheats your engine. Hop into a cloud’s shadow and brake to cool, or burst into flames.</a:t>
            </a:r>
            <a:endParaRPr lang="en-US" sz="1200" dirty="0"/>
          </a:p>
        </p:txBody>
      </p:sp>
      <p:sp>
        <p:nvSpPr>
          <p:cNvPr id="15" name="Shape 11"/>
          <p:cNvSpPr/>
          <p:nvPr/>
        </p:nvSpPr>
        <p:spPr>
          <a:xfrm>
            <a:off x="4663440" y="1051560"/>
            <a:ext cx="1920240" cy="3154680"/>
          </a:xfrm>
          <a:prstGeom prst="roundRect">
            <a:avLst>
              <a:gd name="adj" fmla="val 5714"/>
            </a:avLst>
          </a:prstGeom>
          <a:solidFill>
            <a:srgbClr val="FFFFFF"/>
          </a:solidFill>
          <a:ln w="12700">
            <a:solidFill>
              <a:srgbClr val="E1E5EE"/>
            </a:solidFill>
            <a:prstDash val="solid"/>
          </a:ln>
          <a:effectLst>
            <a:outerShdw sx="100000" sy="100000" kx="0" ky="0" algn="bl" rotWithShape="0" blurRad="101600" dist="25400" dir="54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4754880" y="1143000"/>
            <a:ext cx="1737360" cy="977265"/>
          </a:xfrm>
          <a:prstGeom prst="rect">
            <a:avLst/>
          </a:prstGeom>
        </p:spPr>
      </p:pic>
      <p:sp>
        <p:nvSpPr>
          <p:cNvPr id="17" name="Text 12"/>
          <p:cNvSpPr txBox="1"/>
          <p:nvPr/>
        </p:nvSpPr>
        <p:spPr>
          <a:xfrm>
            <a:off x="4800600" y="2212848"/>
            <a:ext cx="1645920" cy="274320"/>
          </a:xfrm>
          <a:prstGeom prst="rect">
            <a:avLst/>
          </a:prstGeom>
          <a:noFill/>
          <a:ln/>
        </p:spPr>
        <p:txBody>
          <a:bodyPr wrap="square" lIns="0" tIns="0" rIns="0" bIns="0" rtlCol="0" anchor="ctr"/>
          <a:lstStyle/>
          <a:p>
            <a:pPr indent="0" marL="0">
              <a:buNone/>
            </a:pPr>
            <a:r>
              <a:rPr lang="en-US" sz="1100" b="1" spc="200" kern="0" dirty="0">
                <a:solidFill>
                  <a:srgbClr val="E06A2B"/>
                </a:solidFill>
              </a:rPr>
              <a:t>VISIBILITY</a:t>
            </a:r>
            <a:endParaRPr lang="en-US" sz="1100" dirty="0"/>
          </a:p>
        </p:txBody>
      </p:sp>
      <p:sp>
        <p:nvSpPr>
          <p:cNvPr id="18" name="Text 13"/>
          <p:cNvSpPr txBox="1"/>
          <p:nvPr/>
        </p:nvSpPr>
        <p:spPr>
          <a:xfrm>
            <a:off x="4800600" y="2468880"/>
            <a:ext cx="1645920" cy="320040"/>
          </a:xfrm>
          <a:prstGeom prst="rect">
            <a:avLst/>
          </a:prstGeom>
          <a:noFill/>
          <a:ln/>
        </p:spPr>
        <p:txBody>
          <a:bodyPr wrap="square" lIns="0" tIns="0" rIns="0" bIns="0" rtlCol="0" anchor="ctr"/>
          <a:lstStyle/>
          <a:p>
            <a:pPr indent="0" marL="0">
              <a:buNone/>
            </a:pPr>
            <a:r>
              <a:rPr lang="en-US" sz="1700" b="1" dirty="0">
                <a:solidFill>
                  <a:srgbClr val="1C2233"/>
                </a:solidFill>
              </a:rPr>
              <a:t>🍂  Autumn</a:t>
            </a:r>
            <a:endParaRPr lang="en-US" sz="1700" dirty="0"/>
          </a:p>
        </p:txBody>
      </p:sp>
      <p:sp>
        <p:nvSpPr>
          <p:cNvPr id="19" name="Text 14"/>
          <p:cNvSpPr txBox="1"/>
          <p:nvPr/>
        </p:nvSpPr>
        <p:spPr>
          <a:xfrm>
            <a:off x="4800600" y="2788920"/>
            <a:ext cx="1645920" cy="274320"/>
          </a:xfrm>
          <a:prstGeom prst="rect">
            <a:avLst/>
          </a:prstGeom>
          <a:noFill/>
          <a:ln/>
        </p:spPr>
        <p:txBody>
          <a:bodyPr wrap="square" lIns="0" tIns="0" rIns="0" bIns="0" rtlCol="0" anchor="ctr"/>
          <a:lstStyle/>
          <a:p>
            <a:pPr indent="0" marL="0">
              <a:buNone/>
            </a:pPr>
            <a:r>
              <a:rPr lang="en-US" sz="1300" i="1" dirty="0">
                <a:solidFill>
                  <a:srgbClr val="5B6478"/>
                </a:solidFill>
              </a:rPr>
              <a:t>Leaf Kick</a:t>
            </a:r>
            <a:endParaRPr lang="en-US" sz="1300" dirty="0"/>
          </a:p>
        </p:txBody>
      </p:sp>
      <p:sp>
        <p:nvSpPr>
          <p:cNvPr id="20" name="Text 15"/>
          <p:cNvSpPr txBox="1"/>
          <p:nvPr/>
        </p:nvSpPr>
        <p:spPr>
          <a:xfrm>
            <a:off x="4800600" y="3108960"/>
            <a:ext cx="1645920" cy="1005840"/>
          </a:xfrm>
          <a:prstGeom prst="rect">
            <a:avLst/>
          </a:prstGeom>
          <a:noFill/>
          <a:ln/>
        </p:spPr>
        <p:txBody>
          <a:bodyPr wrap="square" lIns="0" tIns="0" rIns="0" bIns="0" rtlCol="0" anchor="t"/>
          <a:lstStyle/>
          <a:p>
            <a:pPr indent="0" marL="0">
              <a:buNone/>
            </a:pPr>
            <a:r>
              <a:rPr lang="en-US" sz="1200" dirty="0">
                <a:solidFill>
                  <a:srgbClr val="1C2233"/>
                </a:solidFill>
              </a:rPr>
              <a:t>Tear through leaf piles to blind the car behind you. Dodge the waves of blown leaves.</a:t>
            </a:r>
            <a:endParaRPr lang="en-US" sz="1200" dirty="0"/>
          </a:p>
        </p:txBody>
      </p:sp>
      <p:sp>
        <p:nvSpPr>
          <p:cNvPr id="21" name="Shape 16"/>
          <p:cNvSpPr/>
          <p:nvPr/>
        </p:nvSpPr>
        <p:spPr>
          <a:xfrm>
            <a:off x="6766560" y="1051560"/>
            <a:ext cx="1920240" cy="3154680"/>
          </a:xfrm>
          <a:prstGeom prst="roundRect">
            <a:avLst>
              <a:gd name="adj" fmla="val 5714"/>
            </a:avLst>
          </a:prstGeom>
          <a:solidFill>
            <a:srgbClr val="FFFFFF"/>
          </a:solidFill>
          <a:ln w="12700">
            <a:solidFill>
              <a:srgbClr val="E1E5EE"/>
            </a:solidFill>
            <a:prstDash val="solid"/>
          </a:ln>
          <a:effectLst>
            <a:outerShdw sx="100000" sy="100000" kx="0" ky="0" algn="bl" rotWithShape="0" blurRad="101600" dist="25400" dir="5400000">
              <a:srgbClr val="000000">
                <a:alpha val="12000"/>
              </a:srgbClr>
            </a:outerShdw>
          </a:effectLst>
        </p:spPr>
      </p:sp>
      <p:pic>
        <p:nvPicPr>
          <p:cNvPr id="22" name="Image 3" descr="preencoded.png">    </p:cNvPr>
          <p:cNvPicPr>
            <a:picLocks noChangeAspect="1"/>
          </p:cNvPicPr>
          <p:nvPr/>
        </p:nvPicPr>
        <p:blipFill>
          <a:blip r:embed="rId4"/>
          <a:stretch>
            <a:fillRect/>
          </a:stretch>
        </p:blipFill>
        <p:spPr>
          <a:xfrm>
            <a:off x="6858000" y="1143000"/>
            <a:ext cx="1737360" cy="977265"/>
          </a:xfrm>
          <a:prstGeom prst="rect">
            <a:avLst/>
          </a:prstGeom>
        </p:spPr>
      </p:pic>
      <p:sp>
        <p:nvSpPr>
          <p:cNvPr id="23" name="Text 17"/>
          <p:cNvSpPr txBox="1"/>
          <p:nvPr/>
        </p:nvSpPr>
        <p:spPr>
          <a:xfrm>
            <a:off x="6903720" y="2212848"/>
            <a:ext cx="1645920" cy="274320"/>
          </a:xfrm>
          <a:prstGeom prst="rect">
            <a:avLst/>
          </a:prstGeom>
          <a:noFill/>
          <a:ln/>
        </p:spPr>
        <p:txBody>
          <a:bodyPr wrap="square" lIns="0" tIns="0" rIns="0" bIns="0" rtlCol="0" anchor="ctr"/>
          <a:lstStyle/>
          <a:p>
            <a:pPr indent="0" marL="0">
              <a:buNone/>
            </a:pPr>
            <a:r>
              <a:rPr lang="en-US" sz="1100" b="1" spc="200" kern="0" dirty="0">
                <a:solidFill>
                  <a:srgbClr val="6FA8DC"/>
                </a:solidFill>
              </a:rPr>
              <a:t>WEIGHT</a:t>
            </a:r>
            <a:endParaRPr lang="en-US" sz="1100" dirty="0"/>
          </a:p>
        </p:txBody>
      </p:sp>
      <p:sp>
        <p:nvSpPr>
          <p:cNvPr id="24" name="Text 18"/>
          <p:cNvSpPr txBox="1"/>
          <p:nvPr/>
        </p:nvSpPr>
        <p:spPr>
          <a:xfrm>
            <a:off x="6903720" y="2468880"/>
            <a:ext cx="1645920" cy="320040"/>
          </a:xfrm>
          <a:prstGeom prst="rect">
            <a:avLst/>
          </a:prstGeom>
          <a:noFill/>
          <a:ln/>
        </p:spPr>
        <p:txBody>
          <a:bodyPr wrap="square" lIns="0" tIns="0" rIns="0" bIns="0" rtlCol="0" anchor="ctr"/>
          <a:lstStyle/>
          <a:p>
            <a:pPr indent="0" marL="0">
              <a:buNone/>
            </a:pPr>
            <a:r>
              <a:rPr lang="en-US" sz="1700" b="1" dirty="0">
                <a:solidFill>
                  <a:srgbClr val="1C2233"/>
                </a:solidFill>
              </a:rPr>
              <a:t>❄️  Winter</a:t>
            </a:r>
            <a:endParaRPr lang="en-US" sz="1700" dirty="0"/>
          </a:p>
        </p:txBody>
      </p:sp>
      <p:sp>
        <p:nvSpPr>
          <p:cNvPr id="25" name="Text 19"/>
          <p:cNvSpPr txBox="1"/>
          <p:nvPr/>
        </p:nvSpPr>
        <p:spPr>
          <a:xfrm>
            <a:off x="6903720" y="2788920"/>
            <a:ext cx="1645920" cy="274320"/>
          </a:xfrm>
          <a:prstGeom prst="rect">
            <a:avLst/>
          </a:prstGeom>
          <a:noFill/>
          <a:ln/>
        </p:spPr>
        <p:txBody>
          <a:bodyPr wrap="square" lIns="0" tIns="0" rIns="0" bIns="0" rtlCol="0" anchor="ctr"/>
          <a:lstStyle/>
          <a:p>
            <a:pPr indent="0" marL="0">
              <a:buNone/>
            </a:pPr>
            <a:r>
              <a:rPr lang="en-US" sz="1300" i="1" dirty="0">
                <a:solidFill>
                  <a:srgbClr val="5B6478"/>
                </a:solidFill>
              </a:rPr>
              <a:t>Snow Load</a:t>
            </a:r>
            <a:endParaRPr lang="en-US" sz="1300" dirty="0"/>
          </a:p>
        </p:txBody>
      </p:sp>
      <p:sp>
        <p:nvSpPr>
          <p:cNvPr id="26" name="Text 20"/>
          <p:cNvSpPr txBox="1"/>
          <p:nvPr/>
        </p:nvSpPr>
        <p:spPr>
          <a:xfrm>
            <a:off x="6903720" y="3108960"/>
            <a:ext cx="1645920" cy="1005840"/>
          </a:xfrm>
          <a:prstGeom prst="rect">
            <a:avLst/>
          </a:prstGeom>
          <a:noFill/>
          <a:ln/>
        </p:spPr>
        <p:txBody>
          <a:bodyPr wrap="square" lIns="0" tIns="0" rIns="0" bIns="0" rtlCol="0" anchor="t"/>
          <a:lstStyle/>
          <a:p>
            <a:pPr indent="0" marL="0">
              <a:buNone/>
            </a:pPr>
            <a:r>
              <a:rPr lang="en-US" sz="1200" dirty="0">
                <a:solidFill>
                  <a:srgbClr val="1C2233"/>
                </a:solidFill>
              </a:rPr>
              <a:t>Snow piles on and slows you down. Stop on a heater pad to melt it, or risk the frozen-lake shortcut.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C2233"/>
                </a:solidFill>
                <a:latin typeface="Arial" pitchFamily="34" charset="0"/>
                <a:ea typeface="Arial" pitchFamily="34" charset="-122"/>
                <a:cs typeface="Arial" pitchFamily="34" charset="-120"/>
              </a:rPr>
              <a:t>Seasons connect, and anyone can play</a:t>
            </a:r>
            <a:endParaRPr lang="en-US" sz="2800" dirty="0"/>
          </a:p>
        </p:txBody>
      </p:sp>
      <p:sp>
        <p:nvSpPr>
          <p:cNvPr id="3" name="Shape 1"/>
          <p:cNvSpPr/>
          <p:nvPr/>
        </p:nvSpPr>
        <p:spPr>
          <a:xfrm>
            <a:off x="457200" y="1051560"/>
            <a:ext cx="2606040" cy="1325880"/>
          </a:xfrm>
          <a:prstGeom prst="roundRect">
            <a:avLst>
              <a:gd name="adj" fmla="val 8276"/>
            </a:avLst>
          </a:prstGeom>
          <a:solidFill>
            <a:srgbClr val="F4F6FA"/>
          </a:solidFill>
          <a:ln/>
        </p:spPr>
      </p:sp>
      <p:sp>
        <p:nvSpPr>
          <p:cNvPr id="4" name="Text 2"/>
          <p:cNvSpPr txBox="1"/>
          <p:nvPr/>
        </p:nvSpPr>
        <p:spPr>
          <a:xfrm>
            <a:off x="640080" y="1143000"/>
            <a:ext cx="2286000" cy="594360"/>
          </a:xfrm>
          <a:prstGeom prst="rect">
            <a:avLst/>
          </a:prstGeom>
          <a:noFill/>
          <a:ln/>
        </p:spPr>
        <p:txBody>
          <a:bodyPr wrap="square" lIns="0" tIns="0" rIns="0" bIns="0" rtlCol="0" anchor="ctr"/>
          <a:lstStyle/>
          <a:p>
            <a:pPr indent="0" marL="0">
              <a:buNone/>
            </a:pPr>
            <a:r>
              <a:rPr lang="en-US" sz="3200" b="1" dirty="0">
                <a:solidFill>
                  <a:srgbClr val="F27FB0"/>
                </a:solidFill>
                <a:latin typeface="Arial" pitchFamily="34" charset="0"/>
                <a:ea typeface="Arial" pitchFamily="34" charset="-122"/>
                <a:cs typeface="Arial" pitchFamily="34" charset="-120"/>
              </a:rPr>
              <a:t>1 lap</a:t>
            </a:r>
            <a:endParaRPr lang="en-US" sz="3200" dirty="0"/>
          </a:p>
        </p:txBody>
      </p:sp>
      <p:sp>
        <p:nvSpPr>
          <p:cNvPr id="5" name="Text 3"/>
          <p:cNvSpPr txBox="1"/>
          <p:nvPr/>
        </p:nvSpPr>
        <p:spPr>
          <a:xfrm>
            <a:off x="640080" y="1737360"/>
            <a:ext cx="2286000" cy="548640"/>
          </a:xfrm>
          <a:prstGeom prst="rect">
            <a:avLst/>
          </a:prstGeom>
          <a:noFill/>
          <a:ln/>
        </p:spPr>
        <p:txBody>
          <a:bodyPr wrap="square" lIns="0" tIns="0" rIns="0" bIns="0" rtlCol="0" anchor="ctr"/>
          <a:lstStyle/>
          <a:p>
            <a:pPr indent="0" marL="0">
              <a:buNone/>
            </a:pPr>
            <a:r>
              <a:rPr lang="en-US" sz="1200" dirty="0">
                <a:solidFill>
                  <a:srgbClr val="5B6478"/>
                </a:solidFill>
              </a:rPr>
              <a:t>4 seasons, 4 rules, about two minutes a race</a:t>
            </a:r>
            <a:endParaRPr lang="en-US" sz="1200" dirty="0"/>
          </a:p>
        </p:txBody>
      </p:sp>
      <p:sp>
        <p:nvSpPr>
          <p:cNvPr id="6" name="Shape 4"/>
          <p:cNvSpPr/>
          <p:nvPr/>
        </p:nvSpPr>
        <p:spPr>
          <a:xfrm>
            <a:off x="3264408" y="1051560"/>
            <a:ext cx="2606040" cy="1325880"/>
          </a:xfrm>
          <a:prstGeom prst="roundRect">
            <a:avLst>
              <a:gd name="adj" fmla="val 8276"/>
            </a:avLst>
          </a:prstGeom>
          <a:solidFill>
            <a:srgbClr val="F4F6FA"/>
          </a:solidFill>
          <a:ln/>
        </p:spPr>
      </p:sp>
      <p:sp>
        <p:nvSpPr>
          <p:cNvPr id="7" name="Text 5"/>
          <p:cNvSpPr txBox="1"/>
          <p:nvPr/>
        </p:nvSpPr>
        <p:spPr>
          <a:xfrm>
            <a:off x="3447288" y="1143000"/>
            <a:ext cx="2286000" cy="594360"/>
          </a:xfrm>
          <a:prstGeom prst="rect">
            <a:avLst/>
          </a:prstGeom>
          <a:noFill/>
          <a:ln/>
        </p:spPr>
        <p:txBody>
          <a:bodyPr wrap="square" lIns="0" tIns="0" rIns="0" bIns="0" rtlCol="0" anchor="ctr"/>
          <a:lstStyle/>
          <a:p>
            <a:pPr indent="0" marL="0">
              <a:buNone/>
            </a:pPr>
            <a:r>
              <a:rPr lang="en-US" sz="3200" b="1" dirty="0">
                <a:solidFill>
                  <a:srgbClr val="FFB627"/>
                </a:solidFill>
                <a:latin typeface="Arial" pitchFamily="34" charset="0"/>
                <a:ea typeface="Arial" pitchFamily="34" charset="-122"/>
                <a:cs typeface="Arial" pitchFamily="34" charset="-120"/>
              </a:rPr>
              <a:t>3 ways</a:t>
            </a:r>
            <a:endParaRPr lang="en-US" sz="3200" dirty="0"/>
          </a:p>
        </p:txBody>
      </p:sp>
      <p:sp>
        <p:nvSpPr>
          <p:cNvPr id="8" name="Text 6"/>
          <p:cNvSpPr txBox="1"/>
          <p:nvPr/>
        </p:nvSpPr>
        <p:spPr>
          <a:xfrm>
            <a:off x="3447288" y="1737360"/>
            <a:ext cx="2286000" cy="548640"/>
          </a:xfrm>
          <a:prstGeom prst="rect">
            <a:avLst/>
          </a:prstGeom>
          <a:noFill/>
          <a:ln/>
        </p:spPr>
        <p:txBody>
          <a:bodyPr wrap="square" lIns="0" tIns="0" rIns="0" bIns="0" rtlCol="0" anchor="ctr"/>
          <a:lstStyle/>
          <a:p>
            <a:pPr indent="0" marL="0">
              <a:buNone/>
            </a:pPr>
            <a:r>
              <a:rPr lang="en-US" sz="1200" dirty="0">
                <a:solidFill>
                  <a:srgbClr val="5B6478"/>
                </a:solidFill>
              </a:rPr>
              <a:t>to play: vs bots, split screen, or two devices (phones too)</a:t>
            </a:r>
            <a:endParaRPr lang="en-US" sz="1200" dirty="0"/>
          </a:p>
        </p:txBody>
      </p:sp>
      <p:sp>
        <p:nvSpPr>
          <p:cNvPr id="9" name="Shape 7"/>
          <p:cNvSpPr/>
          <p:nvPr/>
        </p:nvSpPr>
        <p:spPr>
          <a:xfrm>
            <a:off x="6071616" y="1051560"/>
            <a:ext cx="2606040" cy="1325880"/>
          </a:xfrm>
          <a:prstGeom prst="roundRect">
            <a:avLst>
              <a:gd name="adj" fmla="val 8276"/>
            </a:avLst>
          </a:prstGeom>
          <a:solidFill>
            <a:srgbClr val="F4F6FA"/>
          </a:solidFill>
          <a:ln/>
        </p:spPr>
      </p:sp>
      <p:sp>
        <p:nvSpPr>
          <p:cNvPr id="10" name="Text 8"/>
          <p:cNvSpPr txBox="1"/>
          <p:nvPr/>
        </p:nvSpPr>
        <p:spPr>
          <a:xfrm>
            <a:off x="6254496" y="1143000"/>
            <a:ext cx="2286000" cy="594360"/>
          </a:xfrm>
          <a:prstGeom prst="rect">
            <a:avLst/>
          </a:prstGeom>
          <a:noFill/>
          <a:ln/>
        </p:spPr>
        <p:txBody>
          <a:bodyPr wrap="square" lIns="0" tIns="0" rIns="0" bIns="0" rtlCol="0" anchor="ctr"/>
          <a:lstStyle/>
          <a:p>
            <a:pPr indent="0" marL="0">
              <a:buNone/>
            </a:pPr>
            <a:r>
              <a:rPr lang="en-US" sz="3200" b="1" dirty="0">
                <a:solidFill>
                  <a:srgbClr val="6FA8DC"/>
                </a:solidFill>
                <a:latin typeface="Arial" pitchFamily="34" charset="0"/>
                <a:ea typeface="Arial" pitchFamily="34" charset="-122"/>
                <a:cs typeface="Arial" pitchFamily="34" charset="-120"/>
              </a:rPr>
              <a:t>0 files</a:t>
            </a:r>
            <a:endParaRPr lang="en-US" sz="3200" dirty="0"/>
          </a:p>
        </p:txBody>
      </p:sp>
      <p:sp>
        <p:nvSpPr>
          <p:cNvPr id="11" name="Text 9"/>
          <p:cNvSpPr txBox="1"/>
          <p:nvPr/>
        </p:nvSpPr>
        <p:spPr>
          <a:xfrm>
            <a:off x="6254496" y="1737360"/>
            <a:ext cx="2286000" cy="548640"/>
          </a:xfrm>
          <a:prstGeom prst="rect">
            <a:avLst/>
          </a:prstGeom>
          <a:noFill/>
          <a:ln/>
        </p:spPr>
        <p:txBody>
          <a:bodyPr wrap="square" lIns="0" tIns="0" rIns="0" bIns="0" rtlCol="0" anchor="ctr"/>
          <a:lstStyle/>
          <a:p>
            <a:pPr indent="0" marL="0">
              <a:buNone/>
            </a:pPr>
            <a:r>
              <a:rPr lang="en-US" sz="1200" dirty="0">
                <a:solidFill>
                  <a:srgbClr val="5B6478"/>
                </a:solidFill>
              </a:rPr>
              <a:t>of art or audio: every model and every sound is made in code</a:t>
            </a:r>
            <a:endParaRPr lang="en-US" sz="1200" dirty="0"/>
          </a:p>
        </p:txBody>
      </p:sp>
      <p:sp>
        <p:nvSpPr>
          <p:cNvPr id="12" name="Shape 10"/>
          <p:cNvSpPr/>
          <p:nvPr/>
        </p:nvSpPr>
        <p:spPr>
          <a:xfrm>
            <a:off x="457200" y="2697480"/>
            <a:ext cx="548640" cy="548640"/>
          </a:xfrm>
          <a:prstGeom prst="ellipse">
            <a:avLst/>
          </a:prstGeom>
          <a:solidFill>
            <a:srgbClr val="F4F6FA"/>
          </a:solidFill>
          <a:ln/>
        </p:spPr>
      </p:sp>
      <p:sp>
        <p:nvSpPr>
          <p:cNvPr id="13" name="Text 11"/>
          <p:cNvSpPr txBox="1"/>
          <p:nvPr/>
        </p:nvSpPr>
        <p:spPr>
          <a:xfrm>
            <a:off x="457200" y="2697480"/>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ext 12"/>
          <p:cNvSpPr txBox="1"/>
          <p:nvPr/>
        </p:nvSpPr>
        <p:spPr>
          <a:xfrm>
            <a:off x="1188720" y="2679192"/>
            <a:ext cx="3108960" cy="274320"/>
          </a:xfrm>
          <a:prstGeom prst="rect">
            <a:avLst/>
          </a:prstGeom>
          <a:noFill/>
          <a:ln/>
        </p:spPr>
        <p:txBody>
          <a:bodyPr wrap="square" lIns="0" tIns="0" rIns="0" bIns="0" rtlCol="0" anchor="ctr"/>
          <a:lstStyle/>
          <a:p>
            <a:pPr indent="0" marL="0">
              <a:buNone/>
            </a:pPr>
            <a:r>
              <a:rPr lang="en-US" sz="1500" b="1" dirty="0">
                <a:solidFill>
                  <a:srgbClr val="1C2233"/>
                </a:solidFill>
              </a:rPr>
              <a:t>Season change is part of the play</a:t>
            </a:r>
            <a:endParaRPr lang="en-US" sz="1500" dirty="0"/>
          </a:p>
        </p:txBody>
      </p:sp>
      <p:sp>
        <p:nvSpPr>
          <p:cNvPr id="15" name="Text 13"/>
          <p:cNvSpPr txBox="1"/>
          <p:nvPr/>
        </p:nvSpPr>
        <p:spPr>
          <a:xfrm>
            <a:off x="1188720" y="2944368"/>
            <a:ext cx="3657600" cy="411480"/>
          </a:xfrm>
          <a:prstGeom prst="rect">
            <a:avLst/>
          </a:prstGeom>
          <a:noFill/>
          <a:ln/>
        </p:spPr>
        <p:txBody>
          <a:bodyPr wrap="square" lIns="0" tIns="0" rIns="0" bIns="0" rtlCol="0" anchor="ctr"/>
          <a:lstStyle/>
          <a:p>
            <a:pPr indent="0" marL="0">
              <a:buNone/>
            </a:pPr>
            <a:r>
              <a:rPr lang="en-US" sz="1200" dirty="0">
                <a:solidFill>
                  <a:srgbClr val="5B6478"/>
                </a:solidFill>
              </a:rPr>
              <a:t>Your spring petal boost carries into summer: still faster, but your engine runs hotter.</a:t>
            </a:r>
            <a:endParaRPr lang="en-US" sz="1200" dirty="0"/>
          </a:p>
        </p:txBody>
      </p:sp>
      <p:sp>
        <p:nvSpPr>
          <p:cNvPr id="16" name="Shape 14"/>
          <p:cNvSpPr/>
          <p:nvPr/>
        </p:nvSpPr>
        <p:spPr>
          <a:xfrm>
            <a:off x="457200" y="3447288"/>
            <a:ext cx="548640" cy="548640"/>
          </a:xfrm>
          <a:prstGeom prst="ellipse">
            <a:avLst/>
          </a:prstGeom>
          <a:solidFill>
            <a:srgbClr val="F4F6FA"/>
          </a:solidFill>
          <a:ln/>
        </p:spPr>
      </p:sp>
      <p:sp>
        <p:nvSpPr>
          <p:cNvPr id="17" name="Text 15"/>
          <p:cNvSpPr txBox="1"/>
          <p:nvPr/>
        </p:nvSpPr>
        <p:spPr>
          <a:xfrm>
            <a:off x="457200" y="3447288"/>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ext 16"/>
          <p:cNvSpPr txBox="1"/>
          <p:nvPr/>
        </p:nvSpPr>
        <p:spPr>
          <a:xfrm>
            <a:off x="1188720" y="3429000"/>
            <a:ext cx="3108960" cy="274320"/>
          </a:xfrm>
          <a:prstGeom prst="rect">
            <a:avLst/>
          </a:prstGeom>
          <a:noFill/>
          <a:ln/>
        </p:spPr>
        <p:txBody>
          <a:bodyPr wrap="square" lIns="0" tIns="0" rIns="0" bIns="0" rtlCol="0" anchor="ctr"/>
          <a:lstStyle/>
          <a:p>
            <a:pPr indent="0" marL="0">
              <a:buNone/>
            </a:pPr>
            <a:r>
              <a:rPr lang="en-US" sz="1500" b="1" dirty="0">
                <a:solidFill>
                  <a:srgbClr val="1C2233"/>
                </a:solidFill>
              </a:rPr>
              <a:t>Teaches without words</a:t>
            </a:r>
            <a:endParaRPr lang="en-US" sz="1500" dirty="0"/>
          </a:p>
        </p:txBody>
      </p:sp>
      <p:sp>
        <p:nvSpPr>
          <p:cNvPr id="19" name="Text 17"/>
          <p:cNvSpPr txBox="1"/>
          <p:nvPr/>
        </p:nvSpPr>
        <p:spPr>
          <a:xfrm>
            <a:off x="1188720" y="3694176"/>
            <a:ext cx="3657600" cy="411480"/>
          </a:xfrm>
          <a:prstGeom prst="rect">
            <a:avLst/>
          </a:prstGeom>
          <a:noFill/>
          <a:ln/>
        </p:spPr>
        <p:txBody>
          <a:bodyPr wrap="square" lIns="0" tIns="0" rIns="0" bIns="0" rtlCol="0" anchor="ctr"/>
          <a:lstStyle/>
          <a:p>
            <a:pPr indent="0" marL="0">
              <a:buNone/>
            </a:pPr>
            <a:r>
              <a:rPr lang="en-US" sz="1200" dirty="0">
                <a:solidFill>
                  <a:srgbClr val="5B6478"/>
                </a:solidFill>
              </a:rPr>
              <a:t>A picture sign before each season shows its rule: 🌸➜⚡, ☁️🛑➜❄️, 🍂➜🙈, 🔥🛑.</a:t>
            </a:r>
            <a:endParaRPr lang="en-US" sz="1200" dirty="0"/>
          </a:p>
        </p:txBody>
      </p:sp>
      <p:sp>
        <p:nvSpPr>
          <p:cNvPr id="20" name="Shape 18"/>
          <p:cNvSpPr/>
          <p:nvPr/>
        </p:nvSpPr>
        <p:spPr>
          <a:xfrm>
            <a:off x="457200" y="4197096"/>
            <a:ext cx="548640" cy="548640"/>
          </a:xfrm>
          <a:prstGeom prst="ellipse">
            <a:avLst/>
          </a:prstGeom>
          <a:solidFill>
            <a:srgbClr val="F4F6FA"/>
          </a:solidFill>
          <a:ln/>
        </p:spPr>
      </p:sp>
      <p:sp>
        <p:nvSpPr>
          <p:cNvPr id="21" name="Text 19"/>
          <p:cNvSpPr txBox="1"/>
          <p:nvPr/>
        </p:nvSpPr>
        <p:spPr>
          <a:xfrm>
            <a:off x="457200" y="4197096"/>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20"/>
          <p:cNvSpPr txBox="1"/>
          <p:nvPr/>
        </p:nvSpPr>
        <p:spPr>
          <a:xfrm>
            <a:off x="1188720" y="4178808"/>
            <a:ext cx="3108960" cy="274320"/>
          </a:xfrm>
          <a:prstGeom prst="rect">
            <a:avLst/>
          </a:prstGeom>
          <a:noFill/>
          <a:ln/>
        </p:spPr>
        <p:txBody>
          <a:bodyPr wrap="square" lIns="0" tIns="0" rIns="0" bIns="0" rtlCol="0" anchor="ctr"/>
          <a:lstStyle/>
          <a:p>
            <a:pPr indent="0" marL="0">
              <a:buNone/>
            </a:pPr>
            <a:r>
              <a:rPr lang="en-US" sz="1500" b="1" dirty="0">
                <a:solidFill>
                  <a:srgbClr val="1C2233"/>
                </a:solidFill>
              </a:rPr>
              <a:t>Accessible</a:t>
            </a:r>
            <a:endParaRPr lang="en-US" sz="1500" dirty="0"/>
          </a:p>
        </p:txBody>
      </p:sp>
      <p:sp>
        <p:nvSpPr>
          <p:cNvPr id="23" name="Text 21"/>
          <p:cNvSpPr txBox="1"/>
          <p:nvPr/>
        </p:nvSpPr>
        <p:spPr>
          <a:xfrm>
            <a:off x="1188720" y="4443984"/>
            <a:ext cx="3657600" cy="411480"/>
          </a:xfrm>
          <a:prstGeom prst="rect">
            <a:avLst/>
          </a:prstGeom>
          <a:noFill/>
          <a:ln/>
        </p:spPr>
        <p:txBody>
          <a:bodyPr wrap="square" lIns="0" tIns="0" rIns="0" bIns="0" rtlCol="0" anchor="ctr"/>
          <a:lstStyle/>
          <a:p>
            <a:pPr indent="0" marL="0">
              <a:buNone/>
            </a:pPr>
            <a:r>
              <a:rPr lang="en-US" sz="1200" dirty="0">
                <a:solidFill>
                  <a:srgbClr val="5B6478"/>
                </a:solidFill>
              </a:rPr>
              <a:t>Remap keys for both players, colour-blind helpers, reduced flashes and shake, volume, difficulty.</a:t>
            </a:r>
            <a:endParaRPr lang="en-US" sz="1200" dirty="0"/>
          </a:p>
        </p:txBody>
      </p:sp>
      <p:pic>
        <p:nvPicPr>
          <p:cNvPr id="24" name="Image 0" descr="preencoded.png">    </p:cNvPr>
          <p:cNvPicPr>
            <a:picLocks noChangeAspect="1"/>
          </p:cNvPicPr>
          <p:nvPr/>
        </p:nvPicPr>
        <p:blipFill>
          <a:blip r:embed="rId1"/>
          <a:stretch>
            <a:fillRect/>
          </a:stretch>
        </p:blipFill>
        <p:spPr>
          <a:xfrm>
            <a:off x="5074920" y="2697480"/>
            <a:ext cx="3611880" cy="2031683"/>
          </a:xfrm>
          <a:prstGeom prst="rect">
            <a:avLst/>
          </a:prstGeom>
          <a:effectLst>
            <a:outerShdw sx="100000" sy="100000" kx="0" ky="0" algn="bl" rotWithShape="0" blurRad="101600" dist="38100" dir="5400000">
              <a:srgbClr val="000000">
                <a:alpha val="2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A2B"/>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Pick it up and race: the theme is the gameplay</a:t>
            </a:r>
            <a:endParaRPr lang="en-US" sz="2800" dirty="0"/>
          </a:p>
        </p:txBody>
      </p:sp>
      <p:sp>
        <p:nvSpPr>
          <p:cNvPr id="3" name="Shape 1"/>
          <p:cNvSpPr/>
          <p:nvPr/>
        </p:nvSpPr>
        <p:spPr>
          <a:xfrm>
            <a:off x="457200" y="1097280"/>
            <a:ext cx="4846320" cy="457200"/>
          </a:xfrm>
          <a:prstGeom prst="roundRect">
            <a:avLst>
              <a:gd name="adj" fmla="val 16000"/>
            </a:avLst>
          </a:prstGeom>
          <a:solidFill>
            <a:srgbClr val="232B40"/>
          </a:solidFill>
          <a:ln/>
        </p:spPr>
      </p:sp>
      <p:sp>
        <p:nvSpPr>
          <p:cNvPr id="4" name="Text 2"/>
          <p:cNvSpPr txBox="1"/>
          <p:nvPr/>
        </p:nvSpPr>
        <p:spPr>
          <a:xfrm>
            <a:off x="594360" y="1097280"/>
            <a:ext cx="1417320" cy="457200"/>
          </a:xfrm>
          <a:prstGeom prst="rect">
            <a:avLst/>
          </a:prstGeom>
          <a:noFill/>
          <a:ln/>
        </p:spPr>
        <p:txBody>
          <a:bodyPr wrap="square" lIns="0" tIns="0" rIns="0" bIns="0" rtlCol="0" anchor="ctr"/>
          <a:lstStyle/>
          <a:p>
            <a:pPr indent="0" marL="0">
              <a:buNone/>
            </a:pPr>
            <a:r>
              <a:rPr lang="en-US" sz="1300" b="1" dirty="0">
                <a:solidFill>
                  <a:srgbClr val="F27FB0"/>
                </a:solidFill>
              </a:rPr>
              <a:t>Theme</a:t>
            </a:r>
            <a:endParaRPr lang="en-US" sz="1300" dirty="0"/>
          </a:p>
        </p:txBody>
      </p:sp>
      <p:sp>
        <p:nvSpPr>
          <p:cNvPr id="5" name="Text 3"/>
          <p:cNvSpPr txBox="1"/>
          <p:nvPr/>
        </p:nvSpPr>
        <p:spPr>
          <a:xfrm>
            <a:off x="2011680" y="1097280"/>
            <a:ext cx="3200400" cy="457200"/>
          </a:xfrm>
          <a:prstGeom prst="rect">
            <a:avLst/>
          </a:prstGeom>
          <a:noFill/>
          <a:ln/>
        </p:spPr>
        <p:txBody>
          <a:bodyPr wrap="square" lIns="0" tIns="0" rIns="0" bIns="0" rtlCol="0" anchor="ctr"/>
          <a:lstStyle/>
          <a:p>
            <a:pPr indent="0" marL="0">
              <a:buNone/>
            </a:pPr>
            <a:r>
              <a:rPr lang="en-US" sz="1150" dirty="0">
                <a:solidFill>
                  <a:srgbClr val="D6DCE8"/>
                </a:solidFill>
              </a:rPr>
              <a:t>Every season changes a rule: speed, heat, visibility, weight</a:t>
            </a:r>
            <a:endParaRPr lang="en-US" sz="1150" dirty="0"/>
          </a:p>
        </p:txBody>
      </p:sp>
      <p:sp>
        <p:nvSpPr>
          <p:cNvPr id="6" name="Shape 4"/>
          <p:cNvSpPr/>
          <p:nvPr/>
        </p:nvSpPr>
        <p:spPr>
          <a:xfrm>
            <a:off x="457200" y="1645920"/>
            <a:ext cx="4846320" cy="457200"/>
          </a:xfrm>
          <a:prstGeom prst="roundRect">
            <a:avLst>
              <a:gd name="adj" fmla="val 16000"/>
            </a:avLst>
          </a:prstGeom>
          <a:solidFill>
            <a:srgbClr val="232B40"/>
          </a:solidFill>
          <a:ln/>
        </p:spPr>
      </p:sp>
      <p:sp>
        <p:nvSpPr>
          <p:cNvPr id="7" name="Text 5"/>
          <p:cNvSpPr txBox="1"/>
          <p:nvPr/>
        </p:nvSpPr>
        <p:spPr>
          <a:xfrm>
            <a:off x="594360" y="1645920"/>
            <a:ext cx="1417320" cy="457200"/>
          </a:xfrm>
          <a:prstGeom prst="rect">
            <a:avLst/>
          </a:prstGeom>
          <a:noFill/>
          <a:ln/>
        </p:spPr>
        <p:txBody>
          <a:bodyPr wrap="square" lIns="0" tIns="0" rIns="0" bIns="0" rtlCol="0" anchor="ctr"/>
          <a:lstStyle/>
          <a:p>
            <a:pPr indent="0" marL="0">
              <a:buNone/>
            </a:pPr>
            <a:r>
              <a:rPr lang="en-US" sz="1300" b="1" dirty="0">
                <a:solidFill>
                  <a:srgbClr val="FFB627"/>
                </a:solidFill>
              </a:rPr>
              <a:t>Gameplay &amp; Fun</a:t>
            </a:r>
            <a:endParaRPr lang="en-US" sz="1300" dirty="0"/>
          </a:p>
        </p:txBody>
      </p:sp>
      <p:sp>
        <p:nvSpPr>
          <p:cNvPr id="8" name="Text 6"/>
          <p:cNvSpPr txBox="1"/>
          <p:nvPr/>
        </p:nvSpPr>
        <p:spPr>
          <a:xfrm>
            <a:off x="2011680" y="1645920"/>
            <a:ext cx="3200400" cy="457200"/>
          </a:xfrm>
          <a:prstGeom prst="rect">
            <a:avLst/>
          </a:prstGeom>
          <a:noFill/>
          <a:ln/>
        </p:spPr>
        <p:txBody>
          <a:bodyPr wrap="square" lIns="0" tIns="0" rIns="0" bIns="0" rtlCol="0" anchor="ctr"/>
          <a:lstStyle/>
          <a:p>
            <a:pPr indent="0" marL="0">
              <a:buNone/>
            </a:pPr>
            <a:r>
              <a:rPr lang="en-US" sz="1150" dirty="0">
                <a:solidFill>
                  <a:srgbClr val="D6DCE8"/>
                </a:solidFill>
              </a:rPr>
              <a:t>One-lap race with a clear goal; bots keep it close; 3 difficulties</a:t>
            </a:r>
            <a:endParaRPr lang="en-US" sz="1150" dirty="0"/>
          </a:p>
        </p:txBody>
      </p:sp>
      <p:sp>
        <p:nvSpPr>
          <p:cNvPr id="9" name="Shape 7"/>
          <p:cNvSpPr/>
          <p:nvPr/>
        </p:nvSpPr>
        <p:spPr>
          <a:xfrm>
            <a:off x="457200" y="2194560"/>
            <a:ext cx="4846320" cy="457200"/>
          </a:xfrm>
          <a:prstGeom prst="roundRect">
            <a:avLst>
              <a:gd name="adj" fmla="val 16000"/>
            </a:avLst>
          </a:prstGeom>
          <a:solidFill>
            <a:srgbClr val="232B40"/>
          </a:solidFill>
          <a:ln/>
        </p:spPr>
      </p:sp>
      <p:sp>
        <p:nvSpPr>
          <p:cNvPr id="10" name="Text 8"/>
          <p:cNvSpPr txBox="1"/>
          <p:nvPr/>
        </p:nvSpPr>
        <p:spPr>
          <a:xfrm>
            <a:off x="594360" y="2194560"/>
            <a:ext cx="1417320" cy="457200"/>
          </a:xfrm>
          <a:prstGeom prst="rect">
            <a:avLst/>
          </a:prstGeom>
          <a:noFill/>
          <a:ln/>
        </p:spPr>
        <p:txBody>
          <a:bodyPr wrap="square" lIns="0" tIns="0" rIns="0" bIns="0" rtlCol="0" anchor="ctr"/>
          <a:lstStyle/>
          <a:p>
            <a:pPr indent="0" marL="0">
              <a:buNone/>
            </a:pPr>
            <a:r>
              <a:rPr lang="en-US" sz="1300" b="1" dirty="0">
                <a:solidFill>
                  <a:srgbClr val="E06A2B"/>
                </a:solidFill>
              </a:rPr>
              <a:t>Art &amp; Audio</a:t>
            </a:r>
            <a:endParaRPr lang="en-US" sz="1300" dirty="0"/>
          </a:p>
        </p:txBody>
      </p:sp>
      <p:sp>
        <p:nvSpPr>
          <p:cNvPr id="11" name="Text 9"/>
          <p:cNvSpPr txBox="1"/>
          <p:nvPr/>
        </p:nvSpPr>
        <p:spPr>
          <a:xfrm>
            <a:off x="2011680" y="2194560"/>
            <a:ext cx="3200400" cy="457200"/>
          </a:xfrm>
          <a:prstGeom prst="rect">
            <a:avLst/>
          </a:prstGeom>
          <a:noFill/>
          <a:ln/>
        </p:spPr>
        <p:txBody>
          <a:bodyPr wrap="square" lIns="0" tIns="0" rIns="0" bIns="0" rtlCol="0" anchor="ctr"/>
          <a:lstStyle/>
          <a:p>
            <a:pPr indent="0" marL="0">
              <a:buNone/>
            </a:pPr>
            <a:r>
              <a:rPr lang="en-US" sz="1150" dirty="0">
                <a:solidFill>
                  <a:srgbClr val="D6DCE8"/>
                </a:solidFill>
              </a:rPr>
              <a:t>One low-poly style per season; live-synthesised music and effects</a:t>
            </a:r>
            <a:endParaRPr lang="en-US" sz="1150" dirty="0"/>
          </a:p>
        </p:txBody>
      </p:sp>
      <p:sp>
        <p:nvSpPr>
          <p:cNvPr id="12" name="Shape 10"/>
          <p:cNvSpPr/>
          <p:nvPr/>
        </p:nvSpPr>
        <p:spPr>
          <a:xfrm>
            <a:off x="457200" y="2743200"/>
            <a:ext cx="4846320" cy="457200"/>
          </a:xfrm>
          <a:prstGeom prst="roundRect">
            <a:avLst>
              <a:gd name="adj" fmla="val 16000"/>
            </a:avLst>
          </a:prstGeom>
          <a:solidFill>
            <a:srgbClr val="232B40"/>
          </a:solidFill>
          <a:ln/>
        </p:spPr>
      </p:sp>
      <p:sp>
        <p:nvSpPr>
          <p:cNvPr id="13" name="Text 11"/>
          <p:cNvSpPr txBox="1"/>
          <p:nvPr/>
        </p:nvSpPr>
        <p:spPr>
          <a:xfrm>
            <a:off x="594360" y="2743200"/>
            <a:ext cx="1417320" cy="457200"/>
          </a:xfrm>
          <a:prstGeom prst="rect">
            <a:avLst/>
          </a:prstGeom>
          <a:noFill/>
          <a:ln/>
        </p:spPr>
        <p:txBody>
          <a:bodyPr wrap="square" lIns="0" tIns="0" rIns="0" bIns="0" rtlCol="0" anchor="ctr"/>
          <a:lstStyle/>
          <a:p>
            <a:pPr indent="0" marL="0">
              <a:buNone/>
            </a:pPr>
            <a:r>
              <a:rPr lang="en-US" sz="1300" b="1" dirty="0">
                <a:solidFill>
                  <a:srgbClr val="6FA8DC"/>
                </a:solidFill>
              </a:rPr>
              <a:t>Playable Build</a:t>
            </a:r>
            <a:endParaRPr lang="en-US" sz="1300" dirty="0"/>
          </a:p>
        </p:txBody>
      </p:sp>
      <p:sp>
        <p:nvSpPr>
          <p:cNvPr id="14" name="Text 12"/>
          <p:cNvSpPr txBox="1"/>
          <p:nvPr/>
        </p:nvSpPr>
        <p:spPr>
          <a:xfrm>
            <a:off x="2011680" y="2743200"/>
            <a:ext cx="3200400" cy="457200"/>
          </a:xfrm>
          <a:prstGeom prst="rect">
            <a:avLst/>
          </a:prstGeom>
          <a:noFill/>
          <a:ln/>
        </p:spPr>
        <p:txBody>
          <a:bodyPr wrap="square" lIns="0" tIns="0" rIns="0" bIns="0" rtlCol="0" anchor="ctr"/>
          <a:lstStyle/>
          <a:p>
            <a:pPr indent="0" marL="0">
              <a:buNone/>
            </a:pPr>
            <a:r>
              <a:rPr lang="en-US" sz="1150" dirty="0">
                <a:solidFill>
                  <a:srgbClr val="D6DCE8"/>
                </a:solidFill>
              </a:rPr>
              <a:t>Runs in the browser, keyboard, gamepad or touch; recovers stuck cars</a:t>
            </a:r>
            <a:endParaRPr lang="en-US" sz="1150" dirty="0"/>
          </a:p>
        </p:txBody>
      </p:sp>
      <p:sp>
        <p:nvSpPr>
          <p:cNvPr id="15" name="Shape 13"/>
          <p:cNvSpPr/>
          <p:nvPr/>
        </p:nvSpPr>
        <p:spPr>
          <a:xfrm>
            <a:off x="457200" y="3291840"/>
            <a:ext cx="4846320" cy="457200"/>
          </a:xfrm>
          <a:prstGeom prst="roundRect">
            <a:avLst>
              <a:gd name="adj" fmla="val 16000"/>
            </a:avLst>
          </a:prstGeom>
          <a:solidFill>
            <a:srgbClr val="232B40"/>
          </a:solidFill>
          <a:ln/>
        </p:spPr>
      </p:sp>
      <p:sp>
        <p:nvSpPr>
          <p:cNvPr id="16" name="Text 14"/>
          <p:cNvSpPr txBox="1"/>
          <p:nvPr/>
        </p:nvSpPr>
        <p:spPr>
          <a:xfrm>
            <a:off x="594360" y="3291840"/>
            <a:ext cx="1417320" cy="457200"/>
          </a:xfrm>
          <a:prstGeom prst="rect">
            <a:avLst/>
          </a:prstGeom>
          <a:noFill/>
          <a:ln/>
        </p:spPr>
        <p:txBody>
          <a:bodyPr wrap="square" lIns="0" tIns="0" rIns="0" bIns="0" rtlCol="0" anchor="ctr"/>
          <a:lstStyle/>
          <a:p>
            <a:pPr indent="0" marL="0">
              <a:buNone/>
            </a:pPr>
            <a:r>
              <a:rPr lang="en-US" sz="1300" b="1" dirty="0">
                <a:solidFill>
                  <a:srgbClr val="46C97A"/>
                </a:solidFill>
              </a:rPr>
              <a:t>Originality</a:t>
            </a:r>
            <a:endParaRPr lang="en-US" sz="1300" dirty="0"/>
          </a:p>
        </p:txBody>
      </p:sp>
      <p:sp>
        <p:nvSpPr>
          <p:cNvPr id="17" name="Text 15"/>
          <p:cNvSpPr txBox="1"/>
          <p:nvPr/>
        </p:nvSpPr>
        <p:spPr>
          <a:xfrm>
            <a:off x="2011680" y="3291840"/>
            <a:ext cx="3200400" cy="457200"/>
          </a:xfrm>
          <a:prstGeom prst="rect">
            <a:avLst/>
          </a:prstGeom>
          <a:noFill/>
          <a:ln/>
        </p:spPr>
        <p:txBody>
          <a:bodyPr wrap="square" lIns="0" tIns="0" rIns="0" bIns="0" rtlCol="0" anchor="ctr"/>
          <a:lstStyle/>
          <a:p>
            <a:pPr indent="0" marL="0">
              <a:buNone/>
            </a:pPr>
            <a:r>
              <a:rPr lang="en-US" sz="1150" dirty="0">
                <a:solidFill>
                  <a:srgbClr val="D6DCE8"/>
                </a:solidFill>
              </a:rPr>
              <a:t>Brake into a moving cloud’s shadow; kick leaves into a rival’s face</a:t>
            </a:r>
            <a:endParaRPr lang="en-US" sz="1150" dirty="0"/>
          </a:p>
        </p:txBody>
      </p:sp>
      <p:pic>
        <p:nvPicPr>
          <p:cNvPr id="18" name="Image 0" descr="preencoded.png">    </p:cNvPr>
          <p:cNvPicPr>
            <a:picLocks noChangeAspect="1"/>
          </p:cNvPicPr>
          <p:nvPr/>
        </p:nvPicPr>
        <p:blipFill>
          <a:blip r:embed="rId1"/>
          <a:stretch>
            <a:fillRect/>
          </a:stretch>
        </p:blipFill>
        <p:spPr>
          <a:xfrm>
            <a:off x="5577840" y="1097280"/>
            <a:ext cx="3108960" cy="1748790"/>
          </a:xfrm>
          <a:prstGeom prst="rect">
            <a:avLst/>
          </a:prstGeom>
        </p:spPr>
      </p:pic>
      <p:sp>
        <p:nvSpPr>
          <p:cNvPr id="19" name="Text 16"/>
          <p:cNvSpPr txBox="1"/>
          <p:nvPr/>
        </p:nvSpPr>
        <p:spPr>
          <a:xfrm>
            <a:off x="5577840" y="2971800"/>
            <a:ext cx="3108960" cy="320040"/>
          </a:xfrm>
          <a:prstGeom prst="rect">
            <a:avLst/>
          </a:prstGeom>
          <a:noFill/>
          <a:ln/>
        </p:spPr>
        <p:txBody>
          <a:bodyPr wrap="square" lIns="0" tIns="0" rIns="0" bIns="0" rtlCol="0" anchor="ctr"/>
          <a:lstStyle/>
          <a:p>
            <a:pPr indent="0" marL="0">
              <a:buNone/>
            </a:pPr>
            <a:r>
              <a:rPr lang="en-US" sz="1600" b="1" dirty="0">
                <a:solidFill>
                  <a:srgbClr val="FFD34D"/>
                </a:solidFill>
              </a:rPr>
              <a:t>Play it</a:t>
            </a:r>
            <a:endParaRPr lang="en-US" sz="1600" dirty="0"/>
          </a:p>
        </p:txBody>
      </p:sp>
      <p:sp>
        <p:nvSpPr>
          <p:cNvPr id="20" name="Text 17"/>
          <p:cNvSpPr txBox="1"/>
          <p:nvPr/>
        </p:nvSpPr>
        <p:spPr>
          <a:xfrm>
            <a:off x="5577840" y="3291840"/>
            <a:ext cx="3108960" cy="640080"/>
          </a:xfrm>
          <a:prstGeom prst="rect">
            <a:avLst/>
          </a:prstGeom>
          <a:noFill/>
          <a:ln/>
        </p:spPr>
        <p:txBody>
          <a:bodyPr wrap="square" lIns="0" tIns="0" rIns="0" bIns="0" rtlCol="0" anchor="ctr"/>
          <a:lstStyle/>
          <a:p>
            <a:pPr indent="0" marL="0">
              <a:buNone/>
            </a:pPr>
            <a:r>
              <a:rPr lang="en-US" sz="1200" u="sng" dirty="0">
                <a:solidFill>
                  <a:srgbClr val="9CC7F0"/>
                </a:solidFill>
                <a:hlinkClick r:id="rId2" invalidUrl="" action="" tgtFrame="" tooltip="" history="1" highlightClick="0" endSnd="0">
                  <a:extLst>
                    <a:ext uri="{A12FA001-AC4F-418D-AE19-62706E023703}">
                      <ahyp:hlinkClr xmlns:ahyp="http://schemas.microsoft.com/office/drawing/2018/hyperlinkcolor" val="tx"/>
                    </a:ext>
                  </a:extLst>
                </a:hlinkClick>
              </a:rPr>
              <a:t>github.com/Yamandangol/season-drift</a:t>
            </a:r>
            <a:endParaRPr lang="en-US" sz="1200" dirty="0"/>
          </a:p>
          <a:p>
            <a:pPr indent="0" marL="0">
              <a:buNone/>
            </a:pPr>
            <a:r>
              <a:rPr lang="en-US" sz="1200" dirty="0">
                <a:solidFill>
                  <a:srgbClr val="D6DCE8"/>
                </a:solidFill>
              </a:rPr>
              <a:t>npm install · npm run build · npm start</a:t>
            </a:r>
            <a:endParaRPr lang="en-US" sz="1200" dirty="0"/>
          </a:p>
        </p:txBody>
      </p:sp>
      <p:sp>
        <p:nvSpPr>
          <p:cNvPr id="21" name="Text 18"/>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100" dirty="0">
                <a:solidFill>
                  <a:srgbClr val="7F8AA3"/>
                </a:solidFill>
              </a:rPr>
              <a:t>Made in code at ThunderHacks 2026: Three.js, TypeScript, Socket.IO, Web Audio</a:t>
            </a:r>
            <a:endParaRPr lang="en-US" sz="1100" dirty="0"/>
          </a:p>
        </p:txBody>
      </p:sp>
    </p:spTree>
  </p:cSld>
  <p:clrMapOvr>
    <a:masterClrMapping/>
  </p:clrMapOvr>
</p:sld>
</file>

<file path=ppt/theme/theme1.xml><?xml version="1.0" encoding="utf-8"?>
<a:theme xmlns:a="http://schemas.openxmlformats.org/drawingml/2006/main" name="Season Drift">
  <a:themeElements>
    <a:clrScheme name="Season Drift">
      <a:dk1>
        <a:srgbClr val="141A2B"/>
      </a:dk1>
      <a:lt1>
        <a:srgbClr val="FFFFFF"/>
      </a:lt1>
      <a:dk2>
        <a:srgbClr val="2A3247"/>
      </a:dk2>
      <a:lt2>
        <a:srgbClr val="F4F6FA"/>
      </a:lt2>
      <a:accent1>
        <a:srgbClr val="F27FB0"/>
      </a:accent1>
      <a:accent2>
        <a:srgbClr val="FFB627"/>
      </a:accent2>
      <a:accent3>
        <a:srgbClr val="E06A2B"/>
      </a:accent3>
      <a:accent4>
        <a:srgbClr val="6FA8DC"/>
      </a:accent4>
      <a:accent5>
        <a:srgbClr val="46C97A"/>
      </a:accent5>
      <a:accent6>
        <a:srgbClr val="FFD34D"/>
      </a:accent6>
      <a:hlink>
        <a:srgbClr val="6FA8DC"/>
      </a:hlink>
      <a:folHlink>
        <a:srgbClr val="B28BE0"/>
      </a:folHlink>
    </a:clrScheme>
    <a:fontScheme name="Season Drif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Season Drift</dc:title>
  <dc:subject>PptxGenJS Presentation</dc:subject>
  <dc:creator>PptxGenJS</dc:creator>
  <cp:lastModifiedBy>PptxGenJS</cp:lastModifiedBy>
  <cp:revision>1</cp:revision>
  <dcterms:created xsi:type="dcterms:W3CDTF">2026-10-16T15:15:31Z</dcterms:created>
  <dcterms:modified xsi:type="dcterms:W3CDTF">2026-10-16T15:15:31Z</dcterms:modified>
</cp:coreProperties>
</file>